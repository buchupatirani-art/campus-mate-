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0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640080"/>
            <a:ext cx="2011680" cy="2011680"/>
          </a:xfrm>
          <a:prstGeom prst="ellipse">
            <a:avLst/>
          </a:prstGeom>
          <a:solidFill>
            <a:srgbClr val="3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1828800"/>
            <a:ext cx="1188720" cy="1188720"/>
          </a:xfrm>
          <a:prstGeom prst="ellipse">
            <a:avLst/>
          </a:prstGeom>
          <a:solidFill>
            <a:srgbClr val="23A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2743200"/>
            <a:ext cx="2468880" cy="2468880"/>
          </a:xfrm>
          <a:prstGeom prst="ellipse">
            <a:avLst/>
          </a:prstGeom>
          <a:solidFill>
            <a:srgbClr val="254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7132320" cy="4114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600" b="1">
                <a:solidFill>
                  <a:srgbClr val="9FCDFF"/>
                </a:solidFill>
                <a:latin typeface="Aptos"/>
              </a:defRPr>
            </a:pPr>
            <a:r>
              <a:t>B.TECH CSE MINI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7132320" cy="105156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ptos"/>
              </a:defRPr>
            </a:pPr>
            <a:r>
              <a:t>CAMPUSMATE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7040880" cy="7772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2700" b="1">
                <a:solidFill>
                  <a:srgbClr val="CDE1FF"/>
                </a:solidFill>
                <a:latin typeface="Aptos"/>
              </a:defRPr>
            </a:pPr>
            <a:r>
              <a:t>College Helpdesk Chatbot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886200"/>
            <a:ext cx="6126480" cy="9144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  <a:r>
              <a:t>A simple web application that helps students find college information quickly.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806440"/>
            <a:ext cx="7315200" cy="3200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300" b="0">
                <a:solidFill>
                  <a:srgbClr val="CDE1FF"/>
                </a:solidFill>
                <a:latin typeface="Aptos"/>
              </a:defRPr>
            </a:pPr>
            <a:r>
              <a:t>Presented by: ____________________    |    Department: CSE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594360" cy="2286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r">
              <a:defRPr sz="1000" b="0">
                <a:solidFill>
                  <a:srgbClr val="CDE1FF"/>
                </a:solidFill>
                <a:latin typeface="Aptos"/>
              </a:defRPr>
            </a:pPr>
            <a:r>
              <a:t>01/10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3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881360" cy="5486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2800" b="1">
                <a:solidFill>
                  <a:srgbClr val="18305C"/>
                </a:solidFill>
                <a:latin typeface="Aptos"/>
              </a:defRPr>
            </a:pPr>
            <a: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01200" cy="20116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000" b="0">
                <a:solidFill>
                  <a:srgbClr val="5F6C7C"/>
                </a:solidFill>
                <a:latin typeface="Aptos"/>
              </a:defRPr>
            </a:pPr>
            <a:r>
              <a:t>CAMPUSMATE  |  College Helpdesk Chatbot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594360" cy="2286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r">
              <a:defRPr sz="1000" b="0">
                <a:solidFill>
                  <a:srgbClr val="5F6C7C"/>
                </a:solidFill>
                <a:latin typeface="Aptos"/>
              </a:defRPr>
            </a:pPr>
            <a:r>
              <a:t>02/10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6400800" cy="5486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2300" b="1">
                <a:solidFill>
                  <a:srgbClr val="3069BE"/>
                </a:solidFill>
                <a:latin typeface="Aptos"/>
              </a:defRPr>
            </a:pPr>
            <a:r>
              <a:t>What is CampusMate?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6400800" cy="11887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2000" b="0">
                <a:solidFill>
                  <a:srgbClr val="26303E"/>
                </a:solidFill>
                <a:latin typeface="Aptos"/>
              </a:defRPr>
            </a:pPr>
            <a:r>
              <a:t>CampusMate is a college helpdesk chatbot that answers common student questions using available college FAQ information.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29000"/>
            <a:ext cx="6400800" cy="2103120"/>
          </a:xfrm>
          <a:prstGeom prst="rect">
            <a:avLst/>
          </a:prstGeom>
          <a:noFill/>
        </p:spPr>
        <p:txBody>
          <a:bodyPr wrap="square" lIns="45720" rIns="45720" tIns="36576" bIns="18288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Easy way to access college information</a:t>
            </a:r>
          </a:p>
          <a:p>
            <a:pPr>
              <a:spcAft>
                <a:spcPts val="12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Students type questions in a chat window</a:t>
            </a:r>
          </a:p>
          <a:p>
            <a:pPr>
              <a:spcAft>
                <a:spcPts val="12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The chatbot returns a matching answer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508760"/>
            <a:ext cx="3566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80960" y="1508760"/>
            <a:ext cx="82296" cy="1417320"/>
          </a:xfrm>
          <a:prstGeom prst="rect">
            <a:avLst/>
          </a:prstGeom>
          <a:solidFill>
            <a:srgbClr val="23A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0416" y="1691639"/>
            <a:ext cx="3154679" cy="38404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800" b="1">
                <a:solidFill>
                  <a:srgbClr val="18305C"/>
                </a:solidFill>
                <a:latin typeface="Aptos"/>
              </a:defRPr>
            </a:pPr>
            <a:r>
              <a:t>Student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0416" y="2167128"/>
            <a:ext cx="3154679" cy="630936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400" b="0">
                <a:solidFill>
                  <a:srgbClr val="26303E"/>
                </a:solidFill>
                <a:latin typeface="Aptos"/>
              </a:defRPr>
            </a:pPr>
            <a:r>
              <a:t>Asks a question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3246120"/>
            <a:ext cx="3566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80960" y="3246120"/>
            <a:ext cx="82296" cy="1417320"/>
          </a:xfrm>
          <a:prstGeom prst="rect">
            <a:avLst/>
          </a:prstGeom>
          <a:solidFill>
            <a:srgbClr val="3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0416" y="3429000"/>
            <a:ext cx="3154679" cy="38404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800" b="1">
                <a:solidFill>
                  <a:srgbClr val="18305C"/>
                </a:solidFill>
                <a:latin typeface="Aptos"/>
              </a:defRPr>
            </a:pPr>
            <a:r>
              <a:t>CampusMate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0416" y="3904487"/>
            <a:ext cx="3154679" cy="630936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400" b="0">
                <a:solidFill>
                  <a:srgbClr val="26303E"/>
                </a:solidFill>
                <a:latin typeface="Aptos"/>
              </a:defRPr>
            </a:pPr>
            <a:r>
              <a:t>Finds an answer from stored FAQs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4983480"/>
            <a:ext cx="35661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0" y="4983480"/>
            <a:ext cx="82296" cy="960120"/>
          </a:xfrm>
          <a:prstGeom prst="rect">
            <a:avLst/>
          </a:prstGeom>
          <a:solidFill>
            <a:srgbClr val="23A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0416" y="5166360"/>
            <a:ext cx="3154679" cy="38404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800" b="1">
                <a:solidFill>
                  <a:srgbClr val="18305C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0416" y="5641848"/>
            <a:ext cx="3154679" cy="173736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400" b="0">
                <a:solidFill>
                  <a:srgbClr val="26303E"/>
                </a:solidFill>
                <a:latin typeface="Aptos"/>
              </a:defRPr>
            </a:pPr>
            <a:r>
              <a:t>Quick information access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3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881360" cy="5486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2800" b="1">
                <a:solidFill>
                  <a:srgbClr val="18305C"/>
                </a:solidFill>
                <a:latin typeface="Aptos"/>
              </a:defRPr>
            </a:pPr>
            <a:r>
              <a:t>2.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01200" cy="20116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000" b="0">
                <a:solidFill>
                  <a:srgbClr val="5F6C7C"/>
                </a:solidFill>
                <a:latin typeface="Aptos"/>
              </a:defRPr>
            </a:pPr>
            <a:r>
              <a:t>CAMPUSMATE  |  College Helpdesk Chatbot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594360" cy="2286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r">
              <a:defRPr sz="1000" b="0">
                <a:solidFill>
                  <a:srgbClr val="5F6C7C"/>
                </a:solidFill>
                <a:latin typeface="Aptos"/>
              </a:defRPr>
            </a:pPr>
            <a:r>
              <a:t>03/10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10607040" cy="9144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2300" b="1">
                <a:solidFill>
                  <a:srgbClr val="18305C"/>
                </a:solidFill>
                <a:latin typeface="Aptos"/>
              </a:defRPr>
            </a:pPr>
            <a:r>
              <a:t>Students often spend time asking staff or searching notices to find routine college information.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6675120" cy="2560320"/>
          </a:xfrm>
          <a:prstGeom prst="rect">
            <a:avLst/>
          </a:prstGeom>
          <a:noFill/>
        </p:spPr>
        <p:txBody>
          <a:bodyPr wrap="square" lIns="45720" rIns="45720" tIns="36576" bIns="18288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6303E"/>
                </a:solidFill>
                <a:latin typeface="Aptos"/>
              </a:defRPr>
            </a:pPr>
            <a:r>
              <a:t>Information may be spread across different places</a:t>
            </a:r>
          </a:p>
          <a:p>
            <a:pPr>
              <a:spcAft>
                <a:spcPts val="1200"/>
              </a:spcAft>
              <a:defRPr sz="1900">
                <a:solidFill>
                  <a:srgbClr val="26303E"/>
                </a:solidFill>
                <a:latin typeface="Aptos"/>
              </a:defRPr>
            </a:pPr>
            <a:r>
              <a:t>Repeated questions increase staff workload</a:t>
            </a:r>
          </a:p>
          <a:p>
            <a:pPr>
              <a:spcAft>
                <a:spcPts val="1200"/>
              </a:spcAft>
              <a:defRPr sz="1900">
                <a:solidFill>
                  <a:srgbClr val="26303E"/>
                </a:solidFill>
                <a:latin typeface="Aptos"/>
              </a:defRPr>
            </a:pPr>
            <a:r>
              <a:t>New students may not know whom to contact</a:t>
            </a:r>
          </a:p>
          <a:p>
            <a:pPr>
              <a:spcAft>
                <a:spcPts val="1200"/>
              </a:spcAft>
              <a:defRPr sz="1900">
                <a:solidFill>
                  <a:srgbClr val="26303E"/>
                </a:solidFill>
                <a:latin typeface="Aptos"/>
              </a:defRPr>
            </a:pPr>
            <a:r>
              <a:t>Students need a simple and quick way to find answers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2560320"/>
            <a:ext cx="29260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0" y="2560320"/>
            <a:ext cx="82296" cy="1828800"/>
          </a:xfrm>
          <a:prstGeom prst="rect">
            <a:avLst/>
          </a:prstGeom>
          <a:solidFill>
            <a:srgbClr val="23A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49056" y="2743200"/>
            <a:ext cx="2514600" cy="38404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800" b="1">
                <a:solidFill>
                  <a:srgbClr val="18305C"/>
                </a:solidFill>
                <a:latin typeface="Aptos"/>
              </a:defRPr>
            </a:pPr>
            <a:r>
              <a:t>Our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49056" y="3218687"/>
            <a:ext cx="2514600" cy="1042416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400" b="0">
                <a:solidFill>
                  <a:srgbClr val="26303E"/>
                </a:solidFill>
                <a:latin typeface="Aptos"/>
              </a:defRPr>
            </a:pPr>
            <a:r>
              <a:t>One chatbot interface for common college questions.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3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881360" cy="5486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2800" b="1">
                <a:solidFill>
                  <a:srgbClr val="18305C"/>
                </a:solidFill>
                <a:latin typeface="Aptos"/>
              </a:defRPr>
            </a:pPr>
            <a:r>
              <a:t>3.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01200" cy="20116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000" b="0">
                <a:solidFill>
                  <a:srgbClr val="5F6C7C"/>
                </a:solidFill>
                <a:latin typeface="Aptos"/>
              </a:defRPr>
            </a:pPr>
            <a:r>
              <a:t>CAMPUSMATE  |  College Helpdesk Chatbot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594360" cy="2286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r">
              <a:defRPr sz="1000" b="0">
                <a:solidFill>
                  <a:srgbClr val="5F6C7C"/>
                </a:solidFill>
                <a:latin typeface="Aptos"/>
              </a:defRPr>
            </a:pPr>
            <a:r>
              <a:t>04/10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82296" cy="1600200"/>
          </a:xfrm>
          <a:prstGeom prst="rect">
            <a:avLst/>
          </a:prstGeom>
          <a:solidFill>
            <a:srgbClr val="3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737360"/>
            <a:ext cx="4709159" cy="38404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800" b="1">
                <a:solidFill>
                  <a:srgbClr val="18305C"/>
                </a:solidFill>
                <a:latin typeface="Aptos"/>
              </a:defRPr>
            </a:pPr>
            <a:r>
              <a:t>Quick answers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212848"/>
            <a:ext cx="4709159" cy="813816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400" b="0">
                <a:solidFill>
                  <a:srgbClr val="26303E"/>
                </a:solidFill>
                <a:latin typeface="Aptos"/>
              </a:defRPr>
            </a:pPr>
            <a:r>
              <a:t>Help students find routine information quickly.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1206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554480"/>
            <a:ext cx="82296" cy="1600200"/>
          </a:xfrm>
          <a:prstGeom prst="rect">
            <a:avLst/>
          </a:prstGeom>
          <a:solidFill>
            <a:srgbClr val="23A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1737360"/>
            <a:ext cx="4709159" cy="38404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800" b="1">
                <a:solidFill>
                  <a:srgbClr val="18305C"/>
                </a:solidFill>
                <a:latin typeface="Aptos"/>
              </a:defRPr>
            </a:pPr>
            <a:r>
              <a:t>Save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2212848"/>
            <a:ext cx="4709159" cy="813816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400" b="0">
                <a:solidFill>
                  <a:srgbClr val="26303E"/>
                </a:solidFill>
                <a:latin typeface="Aptos"/>
              </a:defRPr>
            </a:pPr>
            <a:r>
              <a:t>Reduce unnecessary visits and repeated enquiries.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57600"/>
            <a:ext cx="51206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657600"/>
            <a:ext cx="82296" cy="1600200"/>
          </a:xfrm>
          <a:prstGeom prst="rect">
            <a:avLst/>
          </a:prstGeom>
          <a:solidFill>
            <a:srgbClr val="3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3840480"/>
            <a:ext cx="4709159" cy="38404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800" b="1">
                <a:solidFill>
                  <a:srgbClr val="18305C"/>
                </a:solidFill>
                <a:latin typeface="Aptos"/>
              </a:defRPr>
            </a:pPr>
            <a:r>
              <a:t>Easy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" y="4315968"/>
            <a:ext cx="4709159" cy="813816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400" b="0">
                <a:solidFill>
                  <a:srgbClr val="26303E"/>
                </a:solidFill>
                <a:latin typeface="Aptos"/>
              </a:defRPr>
            </a:pPr>
            <a:r>
              <a:t>Provide a simple interface for phone or computer.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657600"/>
            <a:ext cx="51206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657600"/>
            <a:ext cx="82296" cy="1600200"/>
          </a:xfrm>
          <a:prstGeom prst="rect">
            <a:avLst/>
          </a:prstGeom>
          <a:solidFill>
            <a:srgbClr val="23A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3840480"/>
            <a:ext cx="4709159" cy="38404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800" b="1">
                <a:solidFill>
                  <a:srgbClr val="18305C"/>
                </a:solidFill>
                <a:latin typeface="Aptos"/>
              </a:defRPr>
            </a:pPr>
            <a:r>
              <a:t>Reliable details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4315968"/>
            <a:ext cx="4709159" cy="813816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400" b="0">
                <a:solidFill>
                  <a:srgbClr val="26303E"/>
                </a:solidFill>
                <a:latin typeface="Aptos"/>
              </a:defRPr>
            </a:pPr>
            <a:r>
              <a:t>Use verified information and a safe fallback.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3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881360" cy="5486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2800" b="1">
                <a:solidFill>
                  <a:srgbClr val="18305C"/>
                </a:solidFill>
                <a:latin typeface="Aptos"/>
              </a:defRPr>
            </a:pPr>
            <a:r>
              <a:t>4. 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01200" cy="20116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000" b="0">
                <a:solidFill>
                  <a:srgbClr val="5F6C7C"/>
                </a:solidFill>
                <a:latin typeface="Aptos"/>
              </a:defRPr>
            </a:pPr>
            <a:r>
              <a:t>CAMPUSMATE  |  College Helpdesk Chatbot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594360" cy="2286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r">
              <a:defRPr sz="1000" b="0">
                <a:solidFill>
                  <a:srgbClr val="5F6C7C"/>
                </a:solidFill>
                <a:latin typeface="Aptos"/>
              </a:defRPr>
            </a:pPr>
            <a:r>
              <a:t>05/10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80160"/>
            <a:ext cx="10607040" cy="5029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2300" b="1">
                <a:solidFill>
                  <a:srgbClr val="3069BE"/>
                </a:solidFill>
                <a:latin typeface="Aptos"/>
              </a:defRPr>
            </a:pPr>
            <a:r>
              <a:t>How CampusMate works</a:t>
            </a:r>
          </a:p>
        </p:txBody>
      </p:sp>
      <p:sp>
        <p:nvSpPr>
          <p:cNvPr id="7" name="Oval 6"/>
          <p:cNvSpPr/>
          <p:nvPr/>
        </p:nvSpPr>
        <p:spPr>
          <a:xfrm>
            <a:off x="1463040" y="2057400"/>
            <a:ext cx="777240" cy="777240"/>
          </a:xfrm>
          <a:prstGeom prst="ellipse">
            <a:avLst/>
          </a:prstGeom>
          <a:solidFill>
            <a:srgbClr val="3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2240280"/>
            <a:ext cx="777240" cy="2743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63240"/>
            <a:ext cx="2240280" cy="36576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defRPr sz="1700" b="1">
                <a:solidFill>
                  <a:srgbClr val="18305C"/>
                </a:solidFill>
                <a:latin typeface="Aptos"/>
              </a:defRPr>
            </a:pPr>
            <a:r>
              <a:t>Student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240280" cy="10058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defRPr sz="1400" b="0">
                <a:solidFill>
                  <a:srgbClr val="26303E"/>
                </a:solidFill>
                <a:latin typeface="Aptos"/>
              </a:defRPr>
            </a:pPr>
            <a:r>
              <a:t>Opens the website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240280"/>
            <a:ext cx="502920" cy="3200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defRPr sz="2200" b="1">
                <a:solidFill>
                  <a:srgbClr val="5F6C7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057400"/>
            <a:ext cx="777240" cy="777240"/>
          </a:xfrm>
          <a:prstGeom prst="ellipse">
            <a:avLst/>
          </a:prstGeom>
          <a:solidFill>
            <a:srgbClr val="23A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240280"/>
            <a:ext cx="777240" cy="2743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063240"/>
            <a:ext cx="2240280" cy="36576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defRPr sz="1700" b="1">
                <a:solidFill>
                  <a:srgbClr val="18305C"/>
                </a:solidFill>
                <a:latin typeface="Aptos"/>
              </a:defRPr>
            </a:pPr>
            <a:r>
              <a:t>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566160"/>
            <a:ext cx="2240280" cy="10058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defRPr sz="1400" b="0">
                <a:solidFill>
                  <a:srgbClr val="26303E"/>
                </a:solidFill>
                <a:latin typeface="Aptos"/>
              </a:defRPr>
            </a:pPr>
            <a:r>
              <a:t>Types a college-related 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2240280"/>
            <a:ext cx="502920" cy="3200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defRPr sz="2200" b="1">
                <a:solidFill>
                  <a:srgbClr val="5F6C7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7223759" y="2057400"/>
            <a:ext cx="777240" cy="777240"/>
          </a:xfrm>
          <a:prstGeom prst="ellipse">
            <a:avLst/>
          </a:prstGeom>
          <a:solidFill>
            <a:srgbClr val="3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59" y="2240280"/>
            <a:ext cx="777240" cy="2743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063240"/>
            <a:ext cx="2240280" cy="36576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defRPr sz="1700" b="1">
                <a:solidFill>
                  <a:srgbClr val="18305C"/>
                </a:solidFill>
                <a:latin typeface="Aptos"/>
              </a:defRPr>
            </a:pPr>
            <a:r>
              <a:t>FAQ matching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566160"/>
            <a:ext cx="2240280" cy="10058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defRPr sz="1400" b="0">
                <a:solidFill>
                  <a:srgbClr val="26303E"/>
                </a:solidFill>
                <a:latin typeface="Aptos"/>
              </a:defRPr>
            </a:pPr>
            <a:r>
              <a:t>System checks stored questions and answers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2240280"/>
            <a:ext cx="502920" cy="3200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defRPr sz="2200" b="1">
                <a:solidFill>
                  <a:srgbClr val="5F6C7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Oval 21"/>
          <p:cNvSpPr/>
          <p:nvPr/>
        </p:nvSpPr>
        <p:spPr>
          <a:xfrm>
            <a:off x="10104120" y="2057400"/>
            <a:ext cx="777240" cy="777240"/>
          </a:xfrm>
          <a:prstGeom prst="ellipse">
            <a:avLst/>
          </a:prstGeom>
          <a:solidFill>
            <a:srgbClr val="23A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04120" y="2240280"/>
            <a:ext cx="777240" cy="2743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3063240"/>
            <a:ext cx="2240280" cy="36576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defRPr sz="1700" b="1">
                <a:solidFill>
                  <a:srgbClr val="18305C"/>
                </a:solidFill>
                <a:latin typeface="Aptos"/>
              </a:defRPr>
            </a:pPr>
            <a:r>
              <a:t>Response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3566160"/>
            <a:ext cx="2240280" cy="10058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defRPr sz="1400" b="0">
                <a:solidFill>
                  <a:srgbClr val="26303E"/>
                </a:solidFill>
                <a:latin typeface="Aptos"/>
              </a:defRPr>
            </a:pPr>
            <a:r>
              <a:t>Displays the answer or fallback message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28800" y="5029200"/>
            <a:ext cx="84124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28800" y="5029200"/>
            <a:ext cx="82296" cy="777240"/>
          </a:xfrm>
          <a:prstGeom prst="rect">
            <a:avLst/>
          </a:prstGeom>
          <a:solidFill>
            <a:srgbClr val="23A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48256" y="5212080"/>
            <a:ext cx="8001000" cy="38404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800" b="1">
                <a:solidFill>
                  <a:srgbClr val="18305C"/>
                </a:solidFill>
                <a:latin typeface="Aptos"/>
              </a:defRPr>
            </a:pPr>
            <a:r>
              <a:t>Important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48256" y="5687568"/>
            <a:ext cx="8001000" cy="-9144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400" b="0">
                <a:solidFill>
                  <a:srgbClr val="26303E"/>
                </a:solidFill>
                <a:latin typeface="Aptos"/>
              </a:defRPr>
            </a:pPr>
            <a:r>
              <a:t>If the answer is not available, the chatbot asks the student to contact the college office.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3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881360" cy="5486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2800" b="1">
                <a:solidFill>
                  <a:srgbClr val="18305C"/>
                </a:solidFill>
                <a:latin typeface="Aptos"/>
              </a:defRPr>
            </a:pPr>
            <a:r>
              <a:t>5. 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01200" cy="20116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000" b="0">
                <a:solidFill>
                  <a:srgbClr val="5F6C7C"/>
                </a:solidFill>
                <a:latin typeface="Aptos"/>
              </a:defRPr>
            </a:pPr>
            <a:r>
              <a:t>CAMPUSMATE  |  College Helpdesk Chatbot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594360" cy="2286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r">
              <a:defRPr sz="1000" b="0">
                <a:solidFill>
                  <a:srgbClr val="5F6C7C"/>
                </a:solidFill>
                <a:latin typeface="Aptos"/>
              </a:defRPr>
            </a:pPr>
            <a:r>
              <a:t>06/10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2918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82296" cy="1645920"/>
          </a:xfrm>
          <a:prstGeom prst="rect">
            <a:avLst/>
          </a:prstGeom>
          <a:solidFill>
            <a:srgbClr val="3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600200"/>
            <a:ext cx="2880360" cy="38404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800" b="1">
                <a:solidFill>
                  <a:srgbClr val="18305C"/>
                </a:solidFill>
                <a:latin typeface="Aptos"/>
              </a:defRPr>
            </a:pPr>
            <a:r>
              <a:t>Chat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075688"/>
            <a:ext cx="2880360" cy="859536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400" b="0">
                <a:solidFill>
                  <a:srgbClr val="26303E"/>
                </a:solidFill>
                <a:latin typeface="Aptos"/>
              </a:defRPr>
            </a:pPr>
            <a:r>
              <a:t>Input box, Send button, chat messages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2918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417320"/>
            <a:ext cx="82296" cy="1645920"/>
          </a:xfrm>
          <a:prstGeom prst="rect">
            <a:avLst/>
          </a:prstGeom>
          <a:solidFill>
            <a:srgbClr val="23A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6" y="1600200"/>
            <a:ext cx="2880360" cy="38404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800" b="1">
                <a:solidFill>
                  <a:srgbClr val="18305C"/>
                </a:solidFill>
                <a:latin typeface="Aptos"/>
              </a:defRPr>
            </a:pPr>
            <a:r>
              <a:t>Suggested 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2075688"/>
            <a:ext cx="2880360" cy="859536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400" b="0">
                <a:solidFill>
                  <a:srgbClr val="26303E"/>
                </a:solidFill>
                <a:latin typeface="Aptos"/>
              </a:defRPr>
            </a:pPr>
            <a:r>
              <a:t>Quick buttons for common enquiries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417320"/>
            <a:ext cx="32918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9" y="1417320"/>
            <a:ext cx="82296" cy="1645920"/>
          </a:xfrm>
          <a:prstGeom prst="rect">
            <a:avLst/>
          </a:prstGeom>
          <a:solidFill>
            <a:srgbClr val="3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74736" y="1600200"/>
            <a:ext cx="2880360" cy="38404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800" b="1">
                <a:solidFill>
                  <a:srgbClr val="18305C"/>
                </a:solidFill>
                <a:latin typeface="Aptos"/>
              </a:defRPr>
            </a:pPr>
            <a:r>
              <a:t>FAQ categories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6" y="2075688"/>
            <a:ext cx="2880360" cy="859536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400" b="0">
                <a:solidFill>
                  <a:srgbClr val="26303E"/>
                </a:solidFill>
                <a:latin typeface="Aptos"/>
              </a:defRPr>
            </a:pPr>
            <a:r>
              <a:t>General, departments, library, facilities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657600"/>
            <a:ext cx="32918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657600"/>
            <a:ext cx="82296" cy="1645920"/>
          </a:xfrm>
          <a:prstGeom prst="rect">
            <a:avLst/>
          </a:prstGeom>
          <a:solidFill>
            <a:srgbClr val="23A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3840480"/>
            <a:ext cx="2880360" cy="38404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800" b="1">
                <a:solidFill>
                  <a:srgbClr val="18305C"/>
                </a:solidFill>
                <a:latin typeface="Aptos"/>
              </a:defRPr>
            </a:pPr>
            <a:r>
              <a:t>Search FAQs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4315968"/>
            <a:ext cx="2880360" cy="859536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400" b="0">
                <a:solidFill>
                  <a:srgbClr val="26303E"/>
                </a:solidFill>
                <a:latin typeface="Aptos"/>
              </a:defRPr>
            </a:pPr>
            <a:r>
              <a:t>Find a question using keywords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657600"/>
            <a:ext cx="32918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3657600"/>
            <a:ext cx="82296" cy="1645920"/>
          </a:xfrm>
          <a:prstGeom prst="rect">
            <a:avLst/>
          </a:prstGeom>
          <a:solidFill>
            <a:srgbClr val="3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62856" y="3840480"/>
            <a:ext cx="2880360" cy="38404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800" b="1">
                <a:solidFill>
                  <a:srgbClr val="18305C"/>
                </a:solidFill>
                <a:latin typeface="Aptos"/>
              </a:defRPr>
            </a:pPr>
            <a:r>
              <a:t>Fallback response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6" y="4315968"/>
            <a:ext cx="2880360" cy="859536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400" b="0">
                <a:solidFill>
                  <a:srgbClr val="26303E"/>
                </a:solidFill>
                <a:latin typeface="Aptos"/>
              </a:defRPr>
            </a:pPr>
            <a:r>
              <a:t>No made-up answers for unknown questions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79" y="3657600"/>
            <a:ext cx="32918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55279" y="3657600"/>
            <a:ext cx="82296" cy="1645920"/>
          </a:xfrm>
          <a:prstGeom prst="rect">
            <a:avLst/>
          </a:prstGeom>
          <a:solidFill>
            <a:srgbClr val="23A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74736" y="3840480"/>
            <a:ext cx="2880360" cy="38404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800" b="1">
                <a:solidFill>
                  <a:srgbClr val="18305C"/>
                </a:solidFill>
                <a:latin typeface="Aptos"/>
              </a:defRPr>
            </a:pPr>
            <a:r>
              <a:t>Responsive design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74736" y="4315968"/>
            <a:ext cx="2880360" cy="859536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400" b="0">
                <a:solidFill>
                  <a:srgbClr val="26303E"/>
                </a:solidFill>
                <a:latin typeface="Aptos"/>
              </a:defRPr>
            </a:pPr>
            <a:r>
              <a:t>Works on mobile and desktop screens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3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881360" cy="5486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2800" b="1">
                <a:solidFill>
                  <a:srgbClr val="18305C"/>
                </a:solidFill>
                <a:latin typeface="Aptos"/>
              </a:defRPr>
            </a:pPr>
            <a:r>
              <a:t>6. Project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01200" cy="20116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000" b="0">
                <a:solidFill>
                  <a:srgbClr val="5F6C7C"/>
                </a:solidFill>
                <a:latin typeface="Aptos"/>
              </a:defRPr>
            </a:pPr>
            <a:r>
              <a:t>CAMPUSMATE  |  College Helpdesk Chatbot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594360" cy="2286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r">
              <a:defRPr sz="1000" b="0">
                <a:solidFill>
                  <a:srgbClr val="5F6C7C"/>
                </a:solidFill>
                <a:latin typeface="Aptos"/>
              </a:defRPr>
            </a:pPr>
            <a:r>
              <a:t>07/10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10607040" cy="4114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800" b="1">
                <a:solidFill>
                  <a:srgbClr val="3069BE"/>
                </a:solidFill>
                <a:latin typeface="Aptos"/>
              </a:defRPr>
            </a:pPr>
            <a:r>
              <a:t>Hardware and software needed to build and use CampusMate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5074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73152" cy="1417320"/>
          </a:xfrm>
          <a:prstGeom prst="rect">
            <a:avLst/>
          </a:prstGeom>
          <a:solidFill>
            <a:srgbClr val="3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965960"/>
            <a:ext cx="4727448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700" b="1">
                <a:solidFill>
                  <a:srgbClr val="18305C"/>
                </a:solidFill>
                <a:latin typeface="Aptos"/>
              </a:defRPr>
            </a:pPr>
            <a:r>
              <a:t>Hardware Requirements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331720"/>
            <a:ext cx="4727448" cy="84124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300" b="0">
                <a:solidFill>
                  <a:srgbClr val="26303E"/>
                </a:solidFill>
                <a:latin typeface="Aptos"/>
              </a:defRPr>
            </a:pPr>
            <a:r>
              <a:t>• Laptop or desktop computer</a:t>
            </a:r>
            <a:br/>
            <a:r>
              <a:t>• Smartphone for mobile testing (optional)</a:t>
            </a:r>
            <a:br/>
            <a:r>
              <a:t>• Internet connection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5074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828800"/>
            <a:ext cx="73152" cy="1417320"/>
          </a:xfrm>
          <a:prstGeom prst="rect">
            <a:avLst/>
          </a:prstGeom>
          <a:solidFill>
            <a:srgbClr val="23A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7" y="1965960"/>
            <a:ext cx="4727448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700" b="1">
                <a:solidFill>
                  <a:srgbClr val="18305C"/>
                </a:solidFill>
                <a:latin typeface="Aptos"/>
              </a:defRPr>
            </a:pPr>
            <a:r>
              <a:t>Software Requirements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2331720"/>
            <a:ext cx="4727448" cy="84124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300" b="0">
                <a:solidFill>
                  <a:srgbClr val="26303E"/>
                </a:solidFill>
                <a:latin typeface="Aptos"/>
              </a:defRPr>
            </a:pPr>
            <a:r>
              <a:t>• Web browser (Chrome or Edge)</a:t>
            </a:r>
            <a:br/>
            <a:r>
              <a:t>• Base44 account</a:t>
            </a:r>
            <a:br/>
            <a:r>
              <a:t>• Base44 app preview/publishing tools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566160"/>
            <a:ext cx="5074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566160"/>
            <a:ext cx="73152" cy="1417320"/>
          </a:xfrm>
          <a:prstGeom prst="rect">
            <a:avLst/>
          </a:prstGeom>
          <a:solidFill>
            <a:srgbClr val="23A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3703320"/>
            <a:ext cx="4727448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700" b="1">
                <a:solidFill>
                  <a:srgbClr val="18305C"/>
                </a:solidFill>
                <a:latin typeface="Aptos"/>
              </a:defRPr>
            </a:pPr>
            <a:r>
              <a:t>Functional Requirements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4069080"/>
            <a:ext cx="4727448" cy="84124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300" b="0">
                <a:solidFill>
                  <a:srgbClr val="26303E"/>
                </a:solidFill>
                <a:latin typeface="Aptos"/>
              </a:defRPr>
            </a:pPr>
            <a:r>
              <a:t>• Chat input and Send button</a:t>
            </a:r>
            <a:br/>
            <a:r>
              <a:t>• FAQ questions and answers</a:t>
            </a:r>
            <a:br/>
            <a:r>
              <a:t>• Search/suggested questions</a:t>
            </a:r>
            <a:br/>
            <a:r>
              <a:t>• Fallback for unknown questions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566160"/>
            <a:ext cx="5074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566160"/>
            <a:ext cx="73152" cy="1417320"/>
          </a:xfrm>
          <a:prstGeom prst="rect">
            <a:avLst/>
          </a:prstGeom>
          <a:solidFill>
            <a:srgbClr val="3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7" y="3703320"/>
            <a:ext cx="4727448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700" b="1">
                <a:solidFill>
                  <a:srgbClr val="18305C"/>
                </a:solidFill>
                <a:latin typeface="Aptos"/>
              </a:defRPr>
            </a:pPr>
            <a:r>
              <a:t>Non-Functional Requirements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7" y="4069080"/>
            <a:ext cx="4727448" cy="84124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300" b="0">
                <a:solidFill>
                  <a:srgbClr val="26303E"/>
                </a:solidFill>
                <a:latin typeface="Aptos"/>
              </a:defRPr>
            </a:pPr>
            <a:r>
              <a:t>• Simple and user-friendly interface</a:t>
            </a:r>
            <a:br/>
            <a:r>
              <a:t>• Responsive on phone and computer</a:t>
            </a:r>
            <a:br/>
            <a:r>
              <a:t>• Quick responses</a:t>
            </a:r>
            <a:br/>
            <a:r>
              <a:t>• Accurate, updated FAQ information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394960"/>
            <a:ext cx="10515600" cy="5943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defRPr sz="1400" b="0">
                <a:solidFill>
                  <a:srgbClr val="5F6C7C"/>
                </a:solidFill>
                <a:latin typeface="Aptos"/>
              </a:defRPr>
            </a:pPr>
            <a:r>
              <a:t>Note: A live AI model, external API, and separate database are not required for the basic FAQ-based version.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3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881360" cy="5486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2800" b="1">
                <a:solidFill>
                  <a:srgbClr val="18305C"/>
                </a:solidFill>
                <a:latin typeface="Aptos"/>
              </a:defRPr>
            </a:pPr>
            <a:r>
              <a:t>7. Benefits and 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01200" cy="20116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000" b="0">
                <a:solidFill>
                  <a:srgbClr val="5F6C7C"/>
                </a:solidFill>
                <a:latin typeface="Aptos"/>
              </a:defRPr>
            </a:pPr>
            <a:r>
              <a:t>CAMPUSMATE  |  College Helpdesk Chatbot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594360" cy="2286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r">
              <a:defRPr sz="1000" b="0">
                <a:solidFill>
                  <a:srgbClr val="5F6C7C"/>
                </a:solidFill>
                <a:latin typeface="Aptos"/>
              </a:defRPr>
            </a:pPr>
            <a:r>
              <a:t>08/10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82296" cy="1143000"/>
          </a:xfrm>
          <a:prstGeom prst="rect">
            <a:avLst/>
          </a:prstGeom>
          <a:solidFill>
            <a:srgbClr val="3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554480"/>
            <a:ext cx="4709159" cy="38404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800" b="1">
                <a:solidFill>
                  <a:srgbClr val="18305C"/>
                </a:solidFill>
                <a:latin typeface="Aptos"/>
              </a:defRPr>
            </a:pPr>
            <a:r>
              <a:t>Saves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029967"/>
            <a:ext cx="4709159" cy="356616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400" b="0">
                <a:solidFill>
                  <a:srgbClr val="26303E"/>
                </a:solidFill>
                <a:latin typeface="Aptos"/>
              </a:defRPr>
            </a:pPr>
            <a:r>
              <a:t>Quick access to common answers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1206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82296" cy="1143000"/>
          </a:xfrm>
          <a:prstGeom prst="rect">
            <a:avLst/>
          </a:prstGeom>
          <a:solidFill>
            <a:srgbClr val="23A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1554480"/>
            <a:ext cx="4709159" cy="38404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800" b="1">
                <a:solidFill>
                  <a:srgbClr val="18305C"/>
                </a:solidFill>
                <a:latin typeface="Aptos"/>
              </a:defRPr>
            </a:pPr>
            <a:r>
              <a:t>Reduces repeated enquiries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2029967"/>
            <a:ext cx="4709159" cy="356616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400" b="0">
                <a:solidFill>
                  <a:srgbClr val="26303E"/>
                </a:solidFill>
                <a:latin typeface="Aptos"/>
              </a:defRPr>
            </a:pPr>
            <a:r>
              <a:t>Helps staff focus on other 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926080"/>
            <a:ext cx="51206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926080"/>
            <a:ext cx="82296" cy="1143000"/>
          </a:xfrm>
          <a:prstGeom prst="rect">
            <a:avLst/>
          </a:prstGeom>
          <a:solidFill>
            <a:srgbClr val="3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3108960"/>
            <a:ext cx="4709159" cy="38404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800" b="1">
                <a:solidFill>
                  <a:srgbClr val="18305C"/>
                </a:solidFill>
                <a:latin typeface="Aptos"/>
              </a:defRPr>
            </a:pPr>
            <a:r>
              <a:t>Easy to 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" y="3584448"/>
            <a:ext cx="4709159" cy="356616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400" b="0">
                <a:solidFill>
                  <a:srgbClr val="26303E"/>
                </a:solidFill>
                <a:latin typeface="Aptos"/>
              </a:defRPr>
            </a:pPr>
            <a:r>
              <a:t>Simple chat-based interface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926080"/>
            <a:ext cx="51206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926080"/>
            <a:ext cx="82296" cy="1143000"/>
          </a:xfrm>
          <a:prstGeom prst="rect">
            <a:avLst/>
          </a:prstGeom>
          <a:solidFill>
            <a:srgbClr val="23A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3108960"/>
            <a:ext cx="4709159" cy="38404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800" b="1">
                <a:solidFill>
                  <a:srgbClr val="18305C"/>
                </a:solidFill>
                <a:latin typeface="Aptos"/>
              </a:defRPr>
            </a:pPr>
            <a:r>
              <a:t>Supports new students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3584448"/>
            <a:ext cx="4709159" cy="356616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400" b="0">
                <a:solidFill>
                  <a:srgbClr val="26303E"/>
                </a:solidFill>
                <a:latin typeface="Aptos"/>
              </a:defRPr>
            </a:pPr>
            <a:r>
              <a:t>Makes campus information easier to find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480560"/>
            <a:ext cx="51206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480560"/>
            <a:ext cx="82296" cy="1143000"/>
          </a:xfrm>
          <a:prstGeom prst="rect">
            <a:avLst/>
          </a:prstGeom>
          <a:solidFill>
            <a:srgbClr val="3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663440"/>
            <a:ext cx="4709159" cy="38404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800" b="1">
                <a:solidFill>
                  <a:srgbClr val="18305C"/>
                </a:solidFill>
                <a:latin typeface="Aptos"/>
              </a:defRPr>
            </a:pPr>
            <a:r>
              <a:t>Easy to update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" y="5138928"/>
            <a:ext cx="4709159" cy="356616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400" b="0">
                <a:solidFill>
                  <a:srgbClr val="26303E"/>
                </a:solidFill>
                <a:latin typeface="Aptos"/>
              </a:defRPr>
            </a:pPr>
            <a:r>
              <a:t>FAQs can be edited when details change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480560"/>
            <a:ext cx="51206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4480560"/>
            <a:ext cx="82296" cy="1143000"/>
          </a:xfrm>
          <a:prstGeom prst="rect">
            <a:avLst/>
          </a:prstGeom>
          <a:solidFill>
            <a:srgbClr val="23A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7376" y="4663440"/>
            <a:ext cx="4709159" cy="38404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800" b="1">
                <a:solidFill>
                  <a:srgbClr val="18305C"/>
                </a:solidFill>
                <a:latin typeface="Aptos"/>
              </a:defRPr>
            </a:pPr>
            <a:r>
              <a:t>Can grow later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37376" y="5138928"/>
            <a:ext cx="4709159" cy="356616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400" b="0">
                <a:solidFill>
                  <a:srgbClr val="26303E"/>
                </a:solidFill>
                <a:latin typeface="Aptos"/>
              </a:defRPr>
            </a:pPr>
            <a:r>
              <a:t>More FAQs and features can be added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3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881360" cy="5486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2800" b="1">
                <a:solidFill>
                  <a:srgbClr val="18305C"/>
                </a:solidFill>
                <a:latin typeface="Aptos"/>
              </a:defRPr>
            </a:pPr>
            <a:r>
              <a:t>8. Testing and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01200" cy="20116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000" b="0">
                <a:solidFill>
                  <a:srgbClr val="5F6C7C"/>
                </a:solidFill>
                <a:latin typeface="Aptos"/>
              </a:defRPr>
            </a:pPr>
            <a:r>
              <a:t>CAMPUSMATE  |  College Helpdesk Chatbot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594360" cy="2286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r">
              <a:defRPr sz="1000" b="0">
                <a:solidFill>
                  <a:srgbClr val="5F6C7C"/>
                </a:solidFill>
                <a:latin typeface="Aptos"/>
              </a:defRPr>
            </a:pPr>
            <a:r>
              <a:t>09/10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4937760" cy="4572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2200" b="1">
                <a:solidFill>
                  <a:srgbClr val="3069BE"/>
                </a:solidFill>
                <a:latin typeface="Aptos"/>
              </a:defRPr>
            </a:pPr>
            <a:r>
              <a:t>Testing checklist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5029200" cy="3383280"/>
          </a:xfrm>
          <a:prstGeom prst="rect">
            <a:avLst/>
          </a:prstGeom>
          <a:noFill/>
        </p:spPr>
        <p:txBody>
          <a:bodyPr wrap="square" lIns="45720" rIns="45720" tIns="36576" bIns="18288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6303E"/>
                </a:solidFill>
                <a:latin typeface="Aptos"/>
              </a:defRPr>
            </a:pPr>
            <a:r>
              <a:t>Test common FAQ questions</a:t>
            </a:r>
          </a:p>
          <a:p>
            <a:pPr>
              <a:spcAft>
                <a:spcPts val="1200"/>
              </a:spcAft>
              <a:defRPr sz="1700">
                <a:solidFill>
                  <a:srgbClr val="26303E"/>
                </a:solidFill>
                <a:latin typeface="Aptos"/>
              </a:defRPr>
            </a:pPr>
            <a:r>
              <a:t>Test suggested question buttons</a:t>
            </a:r>
          </a:p>
          <a:p>
            <a:pPr>
              <a:spcAft>
                <a:spcPts val="1200"/>
              </a:spcAft>
              <a:defRPr sz="1700">
                <a:solidFill>
                  <a:srgbClr val="26303E"/>
                </a:solidFill>
                <a:latin typeface="Aptos"/>
              </a:defRPr>
            </a:pPr>
            <a:r>
              <a:t>Test unknown questions and fallback</a:t>
            </a:r>
          </a:p>
          <a:p>
            <a:pPr>
              <a:spcAft>
                <a:spcPts val="1200"/>
              </a:spcAft>
              <a:defRPr sz="1700">
                <a:solidFill>
                  <a:srgbClr val="26303E"/>
                </a:solidFill>
                <a:latin typeface="Aptos"/>
              </a:defRPr>
            </a:pPr>
            <a:r>
              <a:t>Check empty messages and Clear Chat</a:t>
            </a:r>
          </a:p>
          <a:p>
            <a:pPr>
              <a:spcAft>
                <a:spcPts val="1200"/>
              </a:spcAft>
              <a:defRPr sz="1700">
                <a:solidFill>
                  <a:srgbClr val="26303E"/>
                </a:solidFill>
                <a:latin typeface="Aptos"/>
              </a:defRPr>
            </a:pPr>
            <a:r>
              <a:t>Check mobile and desktop layouts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325880"/>
            <a:ext cx="4937760" cy="4572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2200" b="1">
                <a:solidFill>
                  <a:srgbClr val="23A09B"/>
                </a:solidFill>
                <a:latin typeface="Aptos"/>
              </a:defRPr>
            </a:pPr>
            <a:r>
              <a:t>Current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920240"/>
            <a:ext cx="5029200" cy="3383280"/>
          </a:xfrm>
          <a:prstGeom prst="rect">
            <a:avLst/>
          </a:prstGeom>
          <a:noFill/>
        </p:spPr>
        <p:txBody>
          <a:bodyPr wrap="square" lIns="45720" rIns="45720" tIns="36576" bIns="18288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6303E"/>
                </a:solidFill>
                <a:latin typeface="Aptos"/>
              </a:defRPr>
            </a:pPr>
            <a:r>
              <a:t>Answers depend on stored FAQ data</a:t>
            </a:r>
          </a:p>
          <a:p>
            <a:pPr>
              <a:spcAft>
                <a:spcPts val="1200"/>
              </a:spcAft>
              <a:defRPr sz="1700">
                <a:solidFill>
                  <a:srgbClr val="26303E"/>
                </a:solidFill>
                <a:latin typeface="Aptos"/>
              </a:defRPr>
            </a:pPr>
            <a:r>
              <a:t>It may not understand every wording</a:t>
            </a:r>
          </a:p>
          <a:p>
            <a:pPr>
              <a:spcAft>
                <a:spcPts val="1200"/>
              </a:spcAft>
              <a:defRPr sz="1700">
                <a:solidFill>
                  <a:srgbClr val="26303E"/>
                </a:solidFill>
                <a:latin typeface="Aptos"/>
              </a:defRPr>
            </a:pPr>
            <a:r>
              <a:t>College details must be verified and updated</a:t>
            </a:r>
          </a:p>
          <a:p>
            <a:pPr>
              <a:spcAft>
                <a:spcPts val="1200"/>
              </a:spcAft>
              <a:defRPr sz="1700">
                <a:solidFill>
                  <a:srgbClr val="26303E"/>
                </a:solidFill>
                <a:latin typeface="Aptos"/>
              </a:defRPr>
            </a:pPr>
            <a:r>
              <a:t>Live AI responses are not included in this version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20240" y="5486400"/>
            <a:ext cx="82296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20240" y="5486400"/>
            <a:ext cx="82296" cy="548640"/>
          </a:xfrm>
          <a:prstGeom prst="rect">
            <a:avLst/>
          </a:prstGeom>
          <a:solidFill>
            <a:srgbClr val="3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39696" y="5669280"/>
            <a:ext cx="7818120" cy="38404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800" b="1">
                <a:solidFill>
                  <a:srgbClr val="18305C"/>
                </a:solidFill>
                <a:latin typeface="Aptos"/>
              </a:defRPr>
            </a:pPr>
            <a:r>
              <a:t>Quality 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9696" y="6144768"/>
            <a:ext cx="7818120" cy="-237744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400" b="0">
                <a:solidFill>
                  <a:srgbClr val="26303E"/>
                </a:solidFill>
                <a:latin typeface="Aptos"/>
              </a:defRPr>
            </a:pPr>
            <a:r>
              <a:t>Accurate information, working buttons, and clear fallback messages.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0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9. Conclusion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4754880" cy="4114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2200" b="1">
                <a:solidFill>
                  <a:srgbClr val="9FCD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057400"/>
            <a:ext cx="4846320" cy="1828800"/>
          </a:xfrm>
          <a:prstGeom prst="rect">
            <a:avLst/>
          </a:prstGeom>
          <a:noFill/>
        </p:spPr>
        <p:txBody>
          <a:bodyPr wrap="square" lIns="45720" rIns="45720" tIns="36576" bIns="18288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CampusMate centralizes common college FAQs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It provides a simple way to access information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It can reduce repetitive routine enquiries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508760"/>
            <a:ext cx="4937760" cy="4114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2200" b="1">
                <a:solidFill>
                  <a:srgbClr val="82DCD2"/>
                </a:solidFill>
                <a:latin typeface="Aptos"/>
              </a:defRPr>
            </a:pPr>
            <a:r>
              <a:t>Future enhancements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2057400"/>
            <a:ext cx="4937760" cy="2468880"/>
          </a:xfrm>
          <a:prstGeom prst="rect">
            <a:avLst/>
          </a:prstGeom>
          <a:noFill/>
        </p:spPr>
        <p:txBody>
          <a:bodyPr wrap="square" lIns="45720" rIns="45720" tIns="36576" bIns="18288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Admin page to update FAQs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Verified college contact directory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More languages, including Telugu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Optional AI-powered answers if resources allow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486400"/>
            <a:ext cx="9875520" cy="5029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Thank You  |  Questions?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94360" cy="2286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r">
              <a:defRPr sz="1000" b="0">
                <a:solidFill>
                  <a:srgbClr val="CDE1FF"/>
                </a:solidFill>
                <a:latin typeface="Aptos"/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